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Raleway SemiBold"/>
      <p:regular r:id="rId25"/>
      <p:bold r:id="rId26"/>
      <p:italic r:id="rId27"/>
      <p:boldItalic r:id="rId28"/>
    </p:embeddedFont>
    <p:embeddedFont>
      <p:font typeface="EB Garamond SemiBold"/>
      <p:regular r:id="rId29"/>
      <p:bold r:id="rId30"/>
      <p:italic r:id="rId31"/>
      <p:boldItalic r:id="rId32"/>
    </p:embeddedFont>
    <p:embeddedFont>
      <p:font typeface="Lora"/>
      <p:regular r:id="rId33"/>
      <p:bold r:id="rId34"/>
      <p:italic r:id="rId35"/>
      <p:boldItalic r:id="rId36"/>
    </p:embeddedFont>
    <p:embeddedFont>
      <p:font typeface="Raleway Medium"/>
      <p:regular r:id="rId37"/>
      <p:bold r:id="rId38"/>
      <p:italic r:id="rId39"/>
      <p:boldItalic r:id="rId40"/>
    </p:embeddedFont>
    <p:embeddedFont>
      <p:font typeface="EB Garamond ExtraBold"/>
      <p:bold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Medium-boldItalic.fntdata"/><Relationship Id="rId20" Type="http://schemas.openxmlformats.org/officeDocument/2006/relationships/slide" Target="slides/slide15.xml"/><Relationship Id="rId42" Type="http://schemas.openxmlformats.org/officeDocument/2006/relationships/font" Target="fonts/EBGaramondExtraBold-boldItalic.fntdata"/><Relationship Id="rId41" Type="http://schemas.openxmlformats.org/officeDocument/2006/relationships/font" Target="fonts/EBGaramondExtraBold-bold.fntdata"/><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lewaySemiBold-bold.fntdata"/><Relationship Id="rId25" Type="http://schemas.openxmlformats.org/officeDocument/2006/relationships/font" Target="fonts/RalewaySemiBold-regular.fntdata"/><Relationship Id="rId28" Type="http://schemas.openxmlformats.org/officeDocument/2006/relationships/font" Target="fonts/RalewaySemiBold-boldItalic.fntdata"/><Relationship Id="rId27" Type="http://schemas.openxmlformats.org/officeDocument/2006/relationships/font" Target="fonts/RalewaySemi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EBGaramond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EBGaramondSemiBold-italic.fntdata"/><Relationship Id="rId30" Type="http://schemas.openxmlformats.org/officeDocument/2006/relationships/font" Target="fonts/EBGaramondSemiBold-bold.fntdata"/><Relationship Id="rId11" Type="http://schemas.openxmlformats.org/officeDocument/2006/relationships/slide" Target="slides/slide6.xml"/><Relationship Id="rId33" Type="http://schemas.openxmlformats.org/officeDocument/2006/relationships/font" Target="fonts/Lora-regular.fntdata"/><Relationship Id="rId10" Type="http://schemas.openxmlformats.org/officeDocument/2006/relationships/slide" Target="slides/slide5.xml"/><Relationship Id="rId32" Type="http://schemas.openxmlformats.org/officeDocument/2006/relationships/font" Target="fonts/EBGaramondSemiBold-boldItalic.fntdata"/><Relationship Id="rId13" Type="http://schemas.openxmlformats.org/officeDocument/2006/relationships/slide" Target="slides/slide8.xml"/><Relationship Id="rId35" Type="http://schemas.openxmlformats.org/officeDocument/2006/relationships/font" Target="fonts/Lora-italic.fntdata"/><Relationship Id="rId12" Type="http://schemas.openxmlformats.org/officeDocument/2006/relationships/slide" Target="slides/slide7.xml"/><Relationship Id="rId34" Type="http://schemas.openxmlformats.org/officeDocument/2006/relationships/font" Target="fonts/Lora-bold.fntdata"/><Relationship Id="rId15" Type="http://schemas.openxmlformats.org/officeDocument/2006/relationships/slide" Target="slides/slide10.xml"/><Relationship Id="rId37" Type="http://schemas.openxmlformats.org/officeDocument/2006/relationships/font" Target="fonts/RalewayMedium-regular.fntdata"/><Relationship Id="rId14" Type="http://schemas.openxmlformats.org/officeDocument/2006/relationships/slide" Target="slides/slide9.xml"/><Relationship Id="rId36" Type="http://schemas.openxmlformats.org/officeDocument/2006/relationships/font" Target="fonts/Lora-boldItalic.fntdata"/><Relationship Id="rId17" Type="http://schemas.openxmlformats.org/officeDocument/2006/relationships/slide" Target="slides/slide12.xml"/><Relationship Id="rId39" Type="http://schemas.openxmlformats.org/officeDocument/2006/relationships/font" Target="fonts/RalewayMedium-italic.fntdata"/><Relationship Id="rId16" Type="http://schemas.openxmlformats.org/officeDocument/2006/relationships/slide" Target="slides/slide11.xml"/><Relationship Id="rId38" Type="http://schemas.openxmlformats.org/officeDocument/2006/relationships/font" Target="fonts/RalewayMedium-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a0a7ad42ae_0_3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a0a7ad42ae_0_3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0a7ad42ae_0_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0a7ad42ae_0_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0a7ad42ae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0a7ad42a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0a7ad42ae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0a7ad42ae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0a7ad42ae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0a7ad42ae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0a7ad42ae_0_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0a7ad42ae_0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a7ad42ae_0_4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a7ad42ae_0_4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0a7ad42ae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0a7ad42ae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0a7ad42ae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0a7ad42ae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0a7ad42ae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0a7ad42ae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a7ad42ae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a7ad42ae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0a7ad42ae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a0a7ad42ae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0a7ad42ae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0a7ad42ae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0a7ad42ae_0_4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0a7ad42ae_0_4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1189650"/>
            <a:ext cx="8897400" cy="1490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GB">
                <a:latin typeface="EB Garamond ExtraBold"/>
                <a:ea typeface="EB Garamond ExtraBold"/>
                <a:cs typeface="EB Garamond ExtraBold"/>
                <a:sym typeface="EB Garamond ExtraBold"/>
              </a:rPr>
              <a:t>         DESIGN THINKING                   </a:t>
            </a:r>
            <a:endParaRPr>
              <a:latin typeface="EB Garamond ExtraBold"/>
              <a:ea typeface="EB Garamond ExtraBold"/>
              <a:cs typeface="EB Garamond ExtraBold"/>
              <a:sym typeface="EB Garamond ExtraBold"/>
            </a:endParaRPr>
          </a:p>
          <a:p>
            <a:pPr indent="0" lvl="0" marL="0" rtl="0" algn="l">
              <a:spcBef>
                <a:spcPts val="0"/>
              </a:spcBef>
              <a:spcAft>
                <a:spcPts val="0"/>
              </a:spcAft>
              <a:buNone/>
            </a:pPr>
            <a:r>
              <a:rPr lang="en-GB">
                <a:latin typeface="EB Garamond ExtraBold"/>
                <a:ea typeface="EB Garamond ExtraBold"/>
                <a:cs typeface="EB Garamond ExtraBold"/>
                <a:sym typeface="EB Garamond ExtraBold"/>
              </a:rPr>
              <a:t>            PRESENTATION</a:t>
            </a:r>
            <a:endParaRPr>
              <a:latin typeface="EB Garamond ExtraBold"/>
              <a:ea typeface="EB Garamond ExtraBold"/>
              <a:cs typeface="EB Garamond ExtraBold"/>
              <a:sym typeface="EB Garamond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4294967295" type="subTitle"/>
          </p:nvPr>
        </p:nvSpPr>
        <p:spPr>
          <a:xfrm>
            <a:off x="469775" y="126450"/>
            <a:ext cx="8520600" cy="119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GB" u="sng">
                <a:latin typeface="Raleway"/>
                <a:ea typeface="Raleway"/>
                <a:cs typeface="Raleway"/>
                <a:sym typeface="Raleway"/>
              </a:rPr>
              <a:t>TOPIC- PASSWORD AND ACCOUNT MANAGEMENT PAIN POINTS</a:t>
            </a:r>
            <a:endParaRPr b="1" sz="1917" u="sng">
              <a:latin typeface="Raleway"/>
              <a:ea typeface="Raleway"/>
              <a:cs typeface="Raleway"/>
              <a:sym typeface="Raleway"/>
            </a:endParaRPr>
          </a:p>
        </p:txBody>
      </p:sp>
      <p:sp>
        <p:nvSpPr>
          <p:cNvPr id="60" name="Google Shape;60;p14"/>
          <p:cNvSpPr txBox="1"/>
          <p:nvPr/>
        </p:nvSpPr>
        <p:spPr>
          <a:xfrm>
            <a:off x="3419325" y="4277900"/>
            <a:ext cx="3868500" cy="4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Times New Roman"/>
                <a:ea typeface="Times New Roman"/>
                <a:cs typeface="Times New Roman"/>
                <a:sym typeface="Times New Roman"/>
              </a:rPr>
              <a:t>SUBMITTED BY - SUYASH SRIJAN</a:t>
            </a:r>
            <a:endParaRPr sz="1800">
              <a:solidFill>
                <a:schemeClr val="dk2"/>
              </a:solidFill>
              <a:latin typeface="Times New Roman"/>
              <a:ea typeface="Times New Roman"/>
              <a:cs typeface="Times New Roman"/>
              <a:sym typeface="Times New Roman"/>
            </a:endParaRPr>
          </a:p>
        </p:txBody>
      </p:sp>
      <p:sp>
        <p:nvSpPr>
          <p:cNvPr id="61" name="Google Shape;61;p14"/>
          <p:cNvSpPr txBox="1"/>
          <p:nvPr/>
        </p:nvSpPr>
        <p:spPr>
          <a:xfrm>
            <a:off x="469775" y="830800"/>
            <a:ext cx="8416500" cy="300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u="sng">
                <a:solidFill>
                  <a:schemeClr val="dk2"/>
                </a:solidFill>
                <a:latin typeface="Raleway"/>
                <a:ea typeface="Raleway"/>
                <a:cs typeface="Raleway"/>
                <a:sym typeface="Raleway"/>
              </a:rPr>
              <a:t>CONTENTS:-</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EMPATHY MAP</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BRAINSTORMING</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IDEA PRIORITIZATION</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HOW MIGHT WE QUESTIONS</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STORYBOARDING</a:t>
            </a:r>
            <a:endParaRPr b="1" sz="1800" u="sng">
              <a:solidFill>
                <a:schemeClr val="dk2"/>
              </a:solidFill>
              <a:latin typeface="Raleway"/>
              <a:ea typeface="Raleway"/>
              <a:cs typeface="Raleway"/>
              <a:sym typeface="Raleway"/>
            </a:endParaRPr>
          </a:p>
          <a:p>
            <a:pPr indent="-342900" lvl="0" marL="457200" rtl="0" algn="l">
              <a:spcBef>
                <a:spcPts val="0"/>
              </a:spcBef>
              <a:spcAft>
                <a:spcPts val="0"/>
              </a:spcAft>
              <a:buClr>
                <a:schemeClr val="dk2"/>
              </a:buClr>
              <a:buSzPts val="1800"/>
              <a:buFont typeface="Raleway"/>
              <a:buAutoNum type="arabicParenR"/>
            </a:pPr>
            <a:r>
              <a:rPr b="1" lang="en-GB" sz="1800" u="sng">
                <a:solidFill>
                  <a:schemeClr val="dk2"/>
                </a:solidFill>
                <a:latin typeface="Raleway"/>
                <a:ea typeface="Raleway"/>
                <a:cs typeface="Raleway"/>
                <a:sym typeface="Raleway"/>
              </a:rPr>
              <a:t>SOLUTION RECOMMENDATIONS</a:t>
            </a:r>
            <a:endParaRPr b="1" sz="1800" u="sng">
              <a:solidFill>
                <a:schemeClr val="dk2"/>
              </a:solidFill>
              <a:latin typeface="Raleway"/>
              <a:ea typeface="Raleway"/>
              <a:cs typeface="Raleway"/>
              <a:sym typeface="Raleway"/>
            </a:endParaRPr>
          </a:p>
          <a:p>
            <a:pPr indent="0" lvl="0" marL="0" rtl="0" algn="l">
              <a:spcBef>
                <a:spcPts val="0"/>
              </a:spcBef>
              <a:spcAft>
                <a:spcPts val="0"/>
              </a:spcAft>
              <a:buNone/>
            </a:pPr>
            <a:r>
              <a:t/>
            </a:r>
            <a:endParaRPr b="1" sz="1800">
              <a:solidFill>
                <a:schemeClr val="dk2"/>
              </a:solidFill>
              <a:latin typeface="Raleway"/>
              <a:ea typeface="Raleway"/>
              <a:cs typeface="Raleway"/>
              <a:sym typeface="Raleway"/>
            </a:endParaRPr>
          </a:p>
          <a:p>
            <a:pPr indent="0" lvl="0" marL="0" rtl="0" algn="l">
              <a:spcBef>
                <a:spcPts val="0"/>
              </a:spcBef>
              <a:spcAft>
                <a:spcPts val="0"/>
              </a:spcAft>
              <a:buNone/>
            </a:pPr>
            <a:r>
              <a:t/>
            </a:r>
            <a:endParaRPr b="1" sz="1800">
              <a:solidFill>
                <a:schemeClr val="dk2"/>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nvSpPr>
        <p:spPr>
          <a:xfrm>
            <a:off x="3188325" y="330575"/>
            <a:ext cx="2870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400">
                <a:solidFill>
                  <a:schemeClr val="dk2"/>
                </a:solidFill>
                <a:latin typeface="Times New Roman"/>
                <a:ea typeface="Times New Roman"/>
                <a:cs typeface="Times New Roman"/>
                <a:sym typeface="Times New Roman"/>
              </a:rPr>
              <a:t>INTRODUCTION</a:t>
            </a:r>
            <a:endParaRPr b="1" sz="2400">
              <a:solidFill>
                <a:schemeClr val="dk2"/>
              </a:solidFill>
              <a:latin typeface="Times New Roman"/>
              <a:ea typeface="Times New Roman"/>
              <a:cs typeface="Times New Roman"/>
              <a:sym typeface="Times New Roman"/>
            </a:endParaRPr>
          </a:p>
        </p:txBody>
      </p:sp>
      <p:sp>
        <p:nvSpPr>
          <p:cNvPr id="67" name="Google Shape;67;p15"/>
          <p:cNvSpPr txBox="1"/>
          <p:nvPr/>
        </p:nvSpPr>
        <p:spPr>
          <a:xfrm>
            <a:off x="154425" y="993900"/>
            <a:ext cx="8818800" cy="408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latin typeface="Raleway"/>
                <a:ea typeface="Raleway"/>
                <a:cs typeface="Raleway"/>
                <a:sym typeface="Raleway"/>
              </a:rPr>
              <a:t>In today’s digital world, our lives are deeply connected to online platforms — from banking and shopping to work and social media. Every one of these activities requires an account, and with each account comes a password. While passwords are meant to protect our personal and professional information, managing them has become a major challenge for most users.</a:t>
            </a:r>
            <a:endParaRPr b="1" sz="1100">
              <a:solidFill>
                <a:schemeClr val="dk1"/>
              </a:solidFill>
              <a:latin typeface="Raleway"/>
              <a:ea typeface="Raleway"/>
              <a:cs typeface="Raleway"/>
              <a:sym typeface="Raleway"/>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latin typeface="Raleway"/>
                <a:ea typeface="Raleway"/>
                <a:cs typeface="Raleway"/>
                <a:sym typeface="Raleway"/>
              </a:rPr>
              <a:t>People struggle to remember dozens of complex passwords, fall into unsafe habits like reusing the same one across multiple sites, or rely on insecure methods to store them. On the other hand, organizations face increasing security risks, data breaches, and support costs due to poor password management practices.</a:t>
            </a:r>
            <a:endParaRPr b="1" sz="1100">
              <a:solidFill>
                <a:schemeClr val="dk1"/>
              </a:solidFill>
              <a:latin typeface="Raleway"/>
              <a:ea typeface="Raleway"/>
              <a:cs typeface="Raleway"/>
              <a:sym typeface="Raleway"/>
            </a:endParaRPr>
          </a:p>
          <a:p>
            <a:pPr indent="0" lvl="0" marL="0" rtl="0" algn="l">
              <a:lnSpc>
                <a:spcPct val="115000"/>
              </a:lnSpc>
              <a:spcBef>
                <a:spcPts val="1200"/>
              </a:spcBef>
              <a:spcAft>
                <a:spcPts val="1200"/>
              </a:spcAft>
              <a:buClr>
                <a:schemeClr val="dk1"/>
              </a:buClr>
              <a:buSzPts val="1100"/>
              <a:buFont typeface="Arial"/>
              <a:buNone/>
            </a:pPr>
            <a:r>
              <a:rPr b="1" lang="en-GB" sz="1100">
                <a:solidFill>
                  <a:schemeClr val="dk1"/>
                </a:solidFill>
                <a:latin typeface="Raleway"/>
                <a:ea typeface="Raleway"/>
                <a:cs typeface="Raleway"/>
                <a:sym typeface="Raleway"/>
              </a:rPr>
              <a:t>This presentation will explore the common pain points associated with password and account management, understand why these issues persist, and discuss strategies and tools that can make the process more secure and user-friendly.</a:t>
            </a:r>
            <a:endParaRPr b="1" sz="1800">
              <a:solidFill>
                <a:schemeClr val="dk1"/>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2264000" y="330575"/>
            <a:ext cx="4752000" cy="9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2"/>
                </a:solidFill>
              </a:rPr>
              <a:t>        AIM OF THE TOPIC</a:t>
            </a:r>
            <a:r>
              <a:rPr lang="en-GB" sz="1800">
                <a:solidFill>
                  <a:schemeClr val="dk2"/>
                </a:solidFill>
              </a:rPr>
              <a:t>                     </a:t>
            </a:r>
            <a:endParaRPr b="1" sz="3000">
              <a:solidFill>
                <a:schemeClr val="dk2"/>
              </a:solidFill>
              <a:latin typeface="Lora"/>
              <a:ea typeface="Lora"/>
              <a:cs typeface="Lora"/>
              <a:sym typeface="Lora"/>
            </a:endParaRPr>
          </a:p>
        </p:txBody>
      </p:sp>
      <p:sp>
        <p:nvSpPr>
          <p:cNvPr id="73" name="Google Shape;73;p16"/>
          <p:cNvSpPr txBox="1"/>
          <p:nvPr/>
        </p:nvSpPr>
        <p:spPr>
          <a:xfrm>
            <a:off x="361025" y="885150"/>
            <a:ext cx="8373000" cy="400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800">
                <a:solidFill>
                  <a:schemeClr val="dk2"/>
                </a:solidFill>
                <a:latin typeface="Verdana"/>
                <a:ea typeface="Verdana"/>
                <a:cs typeface="Verdana"/>
                <a:sym typeface="Verdana"/>
              </a:rPr>
              <a:t>The aim of this topic is to thoroughly examine the various pain points and challenges associated with password and account management in both personal and organizational contexts. It seeks to highlight the difficulties users face in creating, remembering, and securely managing multiple passwords, as well as the security risks and operational burdens that arise from poor password practices. Furthermore, this topic aims to explore the underlying causes of these issues, assess their impact on data protection and user experience, and identify practical strategies, tools, and modern authentication methods that can improve password security, simplify account management, and reduce the likelihood of breaches and unauthorized access.</a:t>
            </a:r>
            <a:endParaRPr b="1" sz="1800">
              <a:solidFill>
                <a:schemeClr val="dk2"/>
              </a:solidFill>
              <a:latin typeface="Verdana"/>
              <a:ea typeface="Verdana"/>
              <a:cs typeface="Verdana"/>
              <a:sym typeface="Verdana"/>
            </a:endParaRPr>
          </a:p>
          <a:p>
            <a:pPr indent="0" lvl="0" marL="0" rtl="0" algn="l">
              <a:spcBef>
                <a:spcPts val="1200"/>
              </a:spcBef>
              <a:spcAft>
                <a:spcPts val="0"/>
              </a:spcAft>
              <a:buNone/>
            </a:pPr>
            <a:r>
              <a:t/>
            </a:r>
            <a:endParaRPr sz="1800">
              <a:solidFill>
                <a:schemeClr val="dk2"/>
              </a:solidFill>
              <a:latin typeface="Verdana"/>
              <a:ea typeface="Verdana"/>
              <a:cs typeface="Verdana"/>
              <a:sym typeface="Verdan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nvSpPr>
        <p:spPr>
          <a:xfrm>
            <a:off x="2250300" y="123950"/>
            <a:ext cx="4643400" cy="4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300">
                <a:solidFill>
                  <a:schemeClr val="dk2"/>
                </a:solidFill>
                <a:latin typeface="Georgia"/>
                <a:ea typeface="Georgia"/>
                <a:cs typeface="Georgia"/>
                <a:sym typeface="Georgia"/>
              </a:rPr>
              <a:t>                 EMPATHY MAP</a:t>
            </a:r>
            <a:endParaRPr sz="2300">
              <a:solidFill>
                <a:schemeClr val="dk2"/>
              </a:solidFill>
              <a:latin typeface="Georgia"/>
              <a:ea typeface="Georgia"/>
              <a:cs typeface="Georgia"/>
              <a:sym typeface="Georgia"/>
            </a:endParaRPr>
          </a:p>
        </p:txBody>
      </p:sp>
      <p:sp>
        <p:nvSpPr>
          <p:cNvPr id="79" name="Google Shape;79;p17"/>
          <p:cNvSpPr txBox="1"/>
          <p:nvPr/>
        </p:nvSpPr>
        <p:spPr>
          <a:xfrm>
            <a:off x="100050" y="591650"/>
            <a:ext cx="8916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100">
                <a:solidFill>
                  <a:schemeClr val="dk1"/>
                </a:solidFill>
              </a:rPr>
              <a:t>An Empathy Map is a tool used to understand what a user thinks, feels, says, and does. It helps us step into the user’s shoes and see the world from their point of view.</a:t>
            </a:r>
            <a:endParaRPr b="1" sz="1900">
              <a:solidFill>
                <a:schemeClr val="dk2"/>
              </a:solidFill>
            </a:endParaRPr>
          </a:p>
        </p:txBody>
      </p:sp>
      <p:sp>
        <p:nvSpPr>
          <p:cNvPr id="80" name="Google Shape;80;p17"/>
          <p:cNvSpPr txBox="1"/>
          <p:nvPr/>
        </p:nvSpPr>
        <p:spPr>
          <a:xfrm>
            <a:off x="187025" y="1146150"/>
            <a:ext cx="8666700" cy="390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STEPS:-</a:t>
            </a:r>
            <a:endParaRPr sz="1800" u="sng">
              <a:solidFill>
                <a:schemeClr val="dk2"/>
              </a:solidFill>
            </a:endParaRPr>
          </a:p>
          <a:p>
            <a:pPr indent="-419100" lvl="0" marL="457200" rtl="0" algn="l">
              <a:spcBef>
                <a:spcPts val="0"/>
              </a:spcBef>
              <a:spcAft>
                <a:spcPts val="0"/>
              </a:spcAft>
              <a:buClr>
                <a:schemeClr val="dk2"/>
              </a:buClr>
              <a:buSzPts val="3000"/>
              <a:buAutoNum type="arabicParenR"/>
            </a:pPr>
            <a:r>
              <a:rPr lang="en-GB" sz="3000">
                <a:solidFill>
                  <a:schemeClr val="dk2"/>
                </a:solidFill>
              </a:rPr>
              <a:t>DOES- Reuses the same password across multiple accounts.</a:t>
            </a:r>
            <a:endParaRPr sz="3000">
              <a:solidFill>
                <a:schemeClr val="dk2"/>
              </a:solidFill>
            </a:endParaRPr>
          </a:p>
          <a:p>
            <a:pPr indent="-419100" lvl="0" marL="457200" rtl="0" algn="l">
              <a:spcBef>
                <a:spcPts val="0"/>
              </a:spcBef>
              <a:spcAft>
                <a:spcPts val="0"/>
              </a:spcAft>
              <a:buClr>
                <a:schemeClr val="dk2"/>
              </a:buClr>
              <a:buSzPts val="3000"/>
              <a:buAutoNum type="arabicParenR"/>
            </a:pPr>
            <a:r>
              <a:rPr lang="en-GB" sz="3000">
                <a:solidFill>
                  <a:schemeClr val="dk2"/>
                </a:solidFill>
              </a:rPr>
              <a:t>THINKS-“I’m worried about my accounts getting hacked.”</a:t>
            </a:r>
            <a:endParaRPr sz="3000">
              <a:solidFill>
                <a:schemeClr val="dk2"/>
              </a:solidFill>
            </a:endParaRPr>
          </a:p>
          <a:p>
            <a:pPr indent="-419100" lvl="0" marL="457200" rtl="0" algn="l">
              <a:spcBef>
                <a:spcPts val="0"/>
              </a:spcBef>
              <a:spcAft>
                <a:spcPts val="0"/>
              </a:spcAft>
              <a:buClr>
                <a:schemeClr val="dk2"/>
              </a:buClr>
              <a:buSzPts val="3000"/>
              <a:buAutoNum type="arabicParenR"/>
            </a:pPr>
            <a:r>
              <a:rPr lang="en-GB" sz="3000">
                <a:solidFill>
                  <a:schemeClr val="dk2"/>
                </a:solidFill>
              </a:rPr>
              <a:t>FEELS-Frustrated by complex password requirements.</a:t>
            </a:r>
            <a:endParaRPr sz="3000">
              <a:solidFill>
                <a:schemeClr val="dk2"/>
              </a:solidFill>
            </a:endParaRPr>
          </a:p>
          <a:p>
            <a:pPr indent="-419100" lvl="0" marL="457200" rtl="0" algn="l">
              <a:spcBef>
                <a:spcPts val="0"/>
              </a:spcBef>
              <a:spcAft>
                <a:spcPts val="0"/>
              </a:spcAft>
              <a:buClr>
                <a:schemeClr val="dk2"/>
              </a:buClr>
              <a:buSzPts val="3000"/>
              <a:buAutoNum type="arabicParenR"/>
            </a:pPr>
            <a:r>
              <a:rPr lang="en-GB" sz="3000">
                <a:solidFill>
                  <a:schemeClr val="dk2"/>
                </a:solidFill>
              </a:rPr>
              <a:t>SAYS-“I can’t remember all my passwords.”</a:t>
            </a:r>
            <a:endParaRPr sz="30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nvSpPr>
        <p:spPr>
          <a:xfrm>
            <a:off x="2361875" y="47850"/>
            <a:ext cx="3795000" cy="52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000">
                <a:solidFill>
                  <a:schemeClr val="dk2"/>
                </a:solidFill>
              </a:rPr>
              <a:t>    EMPATHY MAP</a:t>
            </a:r>
            <a:endParaRPr sz="3000">
              <a:solidFill>
                <a:schemeClr val="dk2"/>
              </a:solidFill>
            </a:endParaRPr>
          </a:p>
        </p:txBody>
      </p:sp>
      <p:sp>
        <p:nvSpPr>
          <p:cNvPr id="86" name="Google Shape;86;p18"/>
          <p:cNvSpPr txBox="1"/>
          <p:nvPr/>
        </p:nvSpPr>
        <p:spPr>
          <a:xfrm>
            <a:off x="230525" y="1124400"/>
            <a:ext cx="8786400" cy="39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87" name="Google Shape;87;p18"/>
          <p:cNvPicPr preferRelativeResize="0"/>
          <p:nvPr/>
        </p:nvPicPr>
        <p:blipFill>
          <a:blip r:embed="rId3">
            <a:alphaModFix/>
          </a:blip>
          <a:stretch>
            <a:fillRect/>
          </a:stretch>
        </p:blipFill>
        <p:spPr>
          <a:xfrm>
            <a:off x="613300" y="569850"/>
            <a:ext cx="7917401" cy="45736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nvSpPr>
        <p:spPr>
          <a:xfrm>
            <a:off x="1916025" y="189200"/>
            <a:ext cx="5121900" cy="67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100">
                <a:solidFill>
                  <a:schemeClr val="dk2"/>
                </a:solidFill>
              </a:rPr>
              <a:t>   HOW MIGHT WE(HMW)</a:t>
            </a:r>
            <a:endParaRPr sz="3100">
              <a:solidFill>
                <a:schemeClr val="dk2"/>
              </a:solidFill>
            </a:endParaRPr>
          </a:p>
        </p:txBody>
      </p:sp>
      <p:sp>
        <p:nvSpPr>
          <p:cNvPr id="93" name="Google Shape;93;p19"/>
          <p:cNvSpPr txBox="1"/>
          <p:nvPr/>
        </p:nvSpPr>
        <p:spPr>
          <a:xfrm>
            <a:off x="230525" y="776425"/>
            <a:ext cx="8655900" cy="4262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A </a:t>
            </a:r>
            <a:r>
              <a:rPr b="1" lang="en-GB" sz="1100">
                <a:solidFill>
                  <a:schemeClr val="dk1"/>
                </a:solidFill>
              </a:rPr>
              <a:t>“How Might We” (HMW)</a:t>
            </a:r>
            <a:r>
              <a:rPr lang="en-GB" sz="1100">
                <a:solidFill>
                  <a:schemeClr val="dk1"/>
                </a:solidFill>
              </a:rPr>
              <a:t> statement is a design thinking tool used to turn a problem or challenge into an opportunity for innovation. It helps us reframe issues in a positive and solution-focused way. Instead of asking </a:t>
            </a:r>
            <a:r>
              <a:rPr i="1" lang="en-GB" sz="1100">
                <a:solidFill>
                  <a:schemeClr val="dk1"/>
                </a:solidFill>
              </a:rPr>
              <a:t>“Why is this a problem?”</a:t>
            </a:r>
            <a:r>
              <a:rPr lang="en-GB" sz="1100">
                <a:solidFill>
                  <a:schemeClr val="dk1"/>
                </a:solidFill>
              </a:rPr>
              <a:t> we ask </a:t>
            </a:r>
            <a:r>
              <a:rPr i="1" lang="en-GB" sz="1100">
                <a:solidFill>
                  <a:schemeClr val="dk1"/>
                </a:solidFill>
              </a:rPr>
              <a:t>“How might we solve it?”</a:t>
            </a:r>
            <a:endParaRPr i="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The phrase starts with </a:t>
            </a:r>
            <a:r>
              <a:rPr b="1" lang="en-GB" sz="1100">
                <a:solidFill>
                  <a:schemeClr val="dk1"/>
                </a:solidFill>
              </a:rPr>
              <a:t>“How”</a:t>
            </a:r>
            <a:r>
              <a:rPr lang="en-GB" sz="1100">
                <a:solidFill>
                  <a:schemeClr val="dk1"/>
                </a:solidFill>
              </a:rPr>
              <a:t>, which suggests that a solution is possible; </a:t>
            </a:r>
            <a:r>
              <a:rPr b="1" lang="en-GB" sz="1100">
                <a:solidFill>
                  <a:schemeClr val="dk1"/>
                </a:solidFill>
              </a:rPr>
              <a:t>“Might”</a:t>
            </a:r>
            <a:r>
              <a:rPr lang="en-GB" sz="1100">
                <a:solidFill>
                  <a:schemeClr val="dk1"/>
                </a:solidFill>
              </a:rPr>
              <a:t>, which opens up many possibilities and encourages creativity; and </a:t>
            </a:r>
            <a:r>
              <a:rPr b="1" lang="en-GB" sz="1100">
                <a:solidFill>
                  <a:schemeClr val="dk1"/>
                </a:solidFill>
              </a:rPr>
              <a:t>“We”</a:t>
            </a:r>
            <a:r>
              <a:rPr lang="en-GB" sz="1100">
                <a:solidFill>
                  <a:schemeClr val="dk1"/>
                </a:solidFill>
              </a:rPr>
              <a:t>, which shows collaboration and teamwork.</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For example, if users struggle to remember complex passwords, we can ask:</a:t>
            </a:r>
            <a:br>
              <a:rPr lang="en-GB" sz="1100">
                <a:solidFill>
                  <a:schemeClr val="dk1"/>
                </a:solidFill>
              </a:rPr>
            </a:br>
            <a:r>
              <a:rPr lang="en-GB" sz="1100">
                <a:solidFill>
                  <a:schemeClr val="dk1"/>
                </a:solidFill>
              </a:rPr>
              <a:t> 👉 </a:t>
            </a:r>
            <a:r>
              <a:rPr b="1" lang="en-GB" sz="1100">
                <a:solidFill>
                  <a:schemeClr val="dk1"/>
                </a:solidFill>
              </a:rPr>
              <a:t>“How might we make password management easier and more secure for users?”</a:t>
            </a:r>
            <a:endParaRPr b="1"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By asking these kinds of questions, teams can brainstorm new ideas, explore different perspectives, and develop solutions that truly address user needs. “How Might We” statements are especially useful after identifying pain points through tools like empathy maps.</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nvSpPr>
        <p:spPr>
          <a:xfrm>
            <a:off x="1839925" y="80475"/>
            <a:ext cx="4904400" cy="4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solidFill>
                  <a:schemeClr val="dk2"/>
                </a:solidFill>
              </a:rPr>
              <a:t>        HOW MIGHT WE (HMW)</a:t>
            </a:r>
            <a:endParaRPr sz="2100">
              <a:solidFill>
                <a:schemeClr val="dk2"/>
              </a:solidFill>
            </a:endParaRPr>
          </a:p>
        </p:txBody>
      </p:sp>
      <p:sp>
        <p:nvSpPr>
          <p:cNvPr id="99" name="Google Shape;99;p20"/>
          <p:cNvSpPr txBox="1"/>
          <p:nvPr/>
        </p:nvSpPr>
        <p:spPr>
          <a:xfrm>
            <a:off x="0" y="466000"/>
            <a:ext cx="9022500" cy="456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00" name="Google Shape;100;p20"/>
          <p:cNvPicPr preferRelativeResize="0"/>
          <p:nvPr/>
        </p:nvPicPr>
        <p:blipFill rotWithShape="1">
          <a:blip r:embed="rId3">
            <a:alphaModFix/>
          </a:blip>
          <a:srcRect b="19666" l="7232" r="16958" t="7843"/>
          <a:stretch/>
        </p:blipFill>
        <p:spPr>
          <a:xfrm>
            <a:off x="128525" y="532575"/>
            <a:ext cx="9022501" cy="4498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nvSpPr>
        <p:spPr>
          <a:xfrm>
            <a:off x="2779475" y="119350"/>
            <a:ext cx="3993600" cy="6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3500">
                <a:solidFill>
                  <a:schemeClr val="dk2"/>
                </a:solidFill>
              </a:rPr>
              <a:t>BRAINSTORMING</a:t>
            </a:r>
            <a:endParaRPr sz="3500">
              <a:solidFill>
                <a:schemeClr val="dk2"/>
              </a:solidFill>
            </a:endParaRPr>
          </a:p>
        </p:txBody>
      </p:sp>
      <p:sp>
        <p:nvSpPr>
          <p:cNvPr id="106" name="Google Shape;106;p21"/>
          <p:cNvSpPr txBox="1"/>
          <p:nvPr/>
        </p:nvSpPr>
        <p:spPr>
          <a:xfrm>
            <a:off x="870850" y="705100"/>
            <a:ext cx="7187100" cy="338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Brainstorming</a:t>
            </a:r>
            <a:r>
              <a:rPr lang="en-GB" sz="1100">
                <a:solidFill>
                  <a:schemeClr val="dk1"/>
                </a:solidFill>
              </a:rPr>
              <a:t> is a creative problem-solving technique used to generate a wide range of ideas and solutions in a short period of time. It encourages free thinking and open discussion, allowing participants to explore many possibilities without immediately judging or criticizing them. The main goal of brainstorming is </a:t>
            </a:r>
            <a:r>
              <a:rPr b="1" lang="en-GB" sz="1100">
                <a:solidFill>
                  <a:schemeClr val="dk1"/>
                </a:solidFill>
              </a:rPr>
              <a:t>quantity first, quality later</a:t>
            </a:r>
            <a:r>
              <a:rPr lang="en-GB" sz="1100">
                <a:solidFill>
                  <a:schemeClr val="dk1"/>
                </a:solidFill>
              </a:rPr>
              <a:t>—the more ideas generated, the higher the chance of finding an innovative or effective solution.</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Key aspects of brainstorming include:</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Encouraging creativity:</a:t>
            </a:r>
            <a:r>
              <a:rPr lang="en-GB" sz="1100">
                <a:solidFill>
                  <a:schemeClr val="dk1"/>
                </a:solidFill>
              </a:rPr>
              <a:t> Everyone is encouraged to contribute ideas, no matter how unconventional they may seem.</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Deferring judgment:</a:t>
            </a:r>
            <a:r>
              <a:rPr lang="en-GB" sz="1100">
                <a:solidFill>
                  <a:schemeClr val="dk1"/>
                </a:solidFill>
              </a:rPr>
              <a:t> Criticism is avoided during idea generation to allow creativity to flow freely.</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Building on ideas:</a:t>
            </a:r>
            <a:r>
              <a:rPr lang="en-GB" sz="1100">
                <a:solidFill>
                  <a:schemeClr val="dk1"/>
                </a:solidFill>
              </a:rPr>
              <a:t> Participants can combine, improve, or adapt others’ ideas to create stronger solutions.</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Diverse perspectives:</a:t>
            </a:r>
            <a:r>
              <a:rPr lang="en-GB" sz="1100">
                <a:solidFill>
                  <a:schemeClr val="dk1"/>
                </a:solidFill>
              </a:rPr>
              <a:t> Involving people with different experiences and expertise often leads to richer ideas.</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nvSpPr>
        <p:spPr>
          <a:xfrm>
            <a:off x="1075400" y="76375"/>
            <a:ext cx="7841400" cy="66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2500">
                <a:solidFill>
                  <a:schemeClr val="dk2"/>
                </a:solidFill>
                <a:latin typeface="Raleway"/>
                <a:ea typeface="Raleway"/>
                <a:cs typeface="Raleway"/>
                <a:sym typeface="Raleway"/>
              </a:rPr>
              <a:t>                             BRAINSTORMING </a:t>
            </a:r>
            <a:endParaRPr sz="2500">
              <a:solidFill>
                <a:schemeClr val="dk2"/>
              </a:solidFill>
              <a:latin typeface="Raleway SemiBold"/>
              <a:ea typeface="Raleway SemiBold"/>
              <a:cs typeface="Raleway SemiBold"/>
              <a:sym typeface="Raleway SemiBold"/>
            </a:endParaRPr>
          </a:p>
          <a:p>
            <a:pPr indent="0" lvl="0" marL="0" rtl="0" algn="l">
              <a:spcBef>
                <a:spcPts val="0"/>
              </a:spcBef>
              <a:spcAft>
                <a:spcPts val="0"/>
              </a:spcAft>
              <a:buNone/>
            </a:pPr>
            <a:r>
              <a:t/>
            </a:r>
            <a:endParaRPr b="1" sz="3200">
              <a:solidFill>
                <a:schemeClr val="dk2"/>
              </a:solidFill>
              <a:latin typeface="Raleway"/>
              <a:ea typeface="Raleway"/>
              <a:cs typeface="Raleway"/>
              <a:sym typeface="Raleway"/>
            </a:endParaRPr>
          </a:p>
        </p:txBody>
      </p:sp>
      <p:sp>
        <p:nvSpPr>
          <p:cNvPr id="112" name="Google Shape;112;p22"/>
          <p:cNvSpPr txBox="1"/>
          <p:nvPr/>
        </p:nvSpPr>
        <p:spPr>
          <a:xfrm rot="10800000">
            <a:off x="241500" y="582150"/>
            <a:ext cx="4140000" cy="34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13" name="Google Shape;113;p22"/>
          <p:cNvPicPr preferRelativeResize="0"/>
          <p:nvPr/>
        </p:nvPicPr>
        <p:blipFill>
          <a:blip r:embed="rId3">
            <a:alphaModFix/>
          </a:blip>
          <a:stretch>
            <a:fillRect/>
          </a:stretch>
        </p:blipFill>
        <p:spPr>
          <a:xfrm>
            <a:off x="241500" y="673850"/>
            <a:ext cx="8802974" cy="4469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nvSpPr>
        <p:spPr>
          <a:xfrm>
            <a:off x="1879400" y="119425"/>
            <a:ext cx="5430600" cy="51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                   </a:t>
            </a:r>
            <a:r>
              <a:rPr lang="en-GB" sz="2100">
                <a:solidFill>
                  <a:schemeClr val="dk2"/>
                </a:solidFill>
                <a:latin typeface="Georgia"/>
                <a:ea typeface="Georgia"/>
                <a:cs typeface="Georgia"/>
                <a:sym typeface="Georgia"/>
              </a:rPr>
              <a:t>IDEA PRIORITIZATION</a:t>
            </a:r>
            <a:endParaRPr sz="2100">
              <a:solidFill>
                <a:schemeClr val="dk2"/>
              </a:solidFill>
              <a:latin typeface="Georgia"/>
              <a:ea typeface="Georgia"/>
              <a:cs typeface="Georgia"/>
              <a:sym typeface="Georgia"/>
            </a:endParaRPr>
          </a:p>
        </p:txBody>
      </p:sp>
      <p:sp>
        <p:nvSpPr>
          <p:cNvPr id="119" name="Google Shape;119;p23"/>
          <p:cNvSpPr txBox="1"/>
          <p:nvPr/>
        </p:nvSpPr>
        <p:spPr>
          <a:xfrm>
            <a:off x="116575" y="631225"/>
            <a:ext cx="8871000" cy="442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20" name="Google Shape;120;p23"/>
          <p:cNvPicPr preferRelativeResize="0"/>
          <p:nvPr/>
        </p:nvPicPr>
        <p:blipFill>
          <a:blip r:embed="rId3">
            <a:alphaModFix/>
          </a:blip>
          <a:stretch>
            <a:fillRect/>
          </a:stretch>
        </p:blipFill>
        <p:spPr>
          <a:xfrm>
            <a:off x="116575" y="526250"/>
            <a:ext cx="8771525" cy="44210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nvSpPr>
        <p:spPr>
          <a:xfrm>
            <a:off x="2375800" y="55725"/>
            <a:ext cx="3735900" cy="38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a:solidFill>
                  <a:schemeClr val="dk2"/>
                </a:solidFill>
                <a:latin typeface="EB Garamond SemiBold"/>
                <a:ea typeface="EB Garamond SemiBold"/>
                <a:cs typeface="EB Garamond SemiBold"/>
                <a:sym typeface="EB Garamond SemiBold"/>
              </a:rPr>
              <a:t>                STORYBOARDING</a:t>
            </a:r>
            <a:endParaRPr sz="1700">
              <a:solidFill>
                <a:schemeClr val="dk2"/>
              </a:solidFill>
              <a:latin typeface="EB Garamond SemiBold"/>
              <a:ea typeface="EB Garamond SemiBold"/>
              <a:cs typeface="EB Garamond SemiBold"/>
              <a:sym typeface="EB Garamond SemiBold"/>
            </a:endParaRPr>
          </a:p>
        </p:txBody>
      </p:sp>
      <p:sp>
        <p:nvSpPr>
          <p:cNvPr id="126" name="Google Shape;126;p24"/>
          <p:cNvSpPr txBox="1"/>
          <p:nvPr/>
        </p:nvSpPr>
        <p:spPr>
          <a:xfrm>
            <a:off x="229125" y="582075"/>
            <a:ext cx="8638200" cy="385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Storyboarding</a:t>
            </a:r>
            <a:r>
              <a:rPr lang="en-GB" sz="1100">
                <a:solidFill>
                  <a:schemeClr val="dk1"/>
                </a:solidFill>
              </a:rPr>
              <a:t> is a visual method used to plan and present the user’s journey or experience step by step. It is like a comic strip that tells a story — showing how a user interacts with a product or system, what problems they face, and how possible solutions can improve their experience.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In </a:t>
            </a:r>
            <a:r>
              <a:rPr b="1" lang="en-GB" sz="1100">
                <a:solidFill>
                  <a:schemeClr val="dk1"/>
                </a:solidFill>
              </a:rPr>
              <a:t>password and account management</a:t>
            </a:r>
            <a:r>
              <a:rPr lang="en-GB" sz="1100">
                <a:solidFill>
                  <a:schemeClr val="dk1"/>
                </a:solidFill>
              </a:rPr>
              <a:t>, storyboarding helps visualize the challenges users go through when trying to log in, reset passwords, or manage multiple accounts. It also helps designers and developers understand users’ emotions and identify points where the experience can be improved.</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A storyboard usually includes:</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Scenes or steps:</a:t>
            </a:r>
            <a:r>
              <a:rPr lang="en-GB" sz="1100">
                <a:solidFill>
                  <a:schemeClr val="dk1"/>
                </a:solidFill>
              </a:rPr>
              <a:t> Key stages in the user’s experience (e.g., creating an account, forgetting a password, resetting it).</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Characters:</a:t>
            </a:r>
            <a:r>
              <a:rPr lang="en-GB" sz="1100">
                <a:solidFill>
                  <a:schemeClr val="dk1"/>
                </a:solidFill>
              </a:rPr>
              <a:t> The user or person experiencing the problem.</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Actions:</a:t>
            </a:r>
            <a:r>
              <a:rPr lang="en-GB" sz="1100">
                <a:solidFill>
                  <a:schemeClr val="dk1"/>
                </a:solidFill>
              </a:rPr>
              <a:t> What the user is doing at each step.</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Emotions:</a:t>
            </a:r>
            <a:r>
              <a:rPr lang="en-GB" sz="1100">
                <a:solidFill>
                  <a:schemeClr val="dk1"/>
                </a:solidFill>
              </a:rPr>
              <a:t> How the user feels — frustrated, confused, or relieved.</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Possible solutions:</a:t>
            </a:r>
            <a:r>
              <a:rPr lang="en-GB" sz="1100">
                <a:solidFill>
                  <a:schemeClr val="dk1"/>
                </a:solidFill>
              </a:rPr>
              <a:t> Ideas that could make each step easier or more secure.</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nvSpPr>
        <p:spPr>
          <a:xfrm>
            <a:off x="1488225" y="179575"/>
            <a:ext cx="3323100" cy="3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aleway Medium"/>
                <a:ea typeface="Raleway Medium"/>
                <a:cs typeface="Raleway Medium"/>
                <a:sym typeface="Raleway Medium"/>
              </a:rPr>
              <a:t>IN MURAL,</a:t>
            </a:r>
            <a:endParaRPr sz="1800">
              <a:solidFill>
                <a:schemeClr val="dk2"/>
              </a:solidFill>
              <a:latin typeface="Raleway Medium"/>
              <a:ea typeface="Raleway Medium"/>
              <a:cs typeface="Raleway Medium"/>
              <a:sym typeface="Raleway Medium"/>
            </a:endParaRPr>
          </a:p>
        </p:txBody>
      </p:sp>
      <p:sp>
        <p:nvSpPr>
          <p:cNvPr id="132" name="Google Shape;132;p25"/>
          <p:cNvSpPr txBox="1"/>
          <p:nvPr/>
        </p:nvSpPr>
        <p:spPr>
          <a:xfrm>
            <a:off x="125900" y="757525"/>
            <a:ext cx="4241700" cy="361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133" name="Google Shape;133;p25"/>
          <p:cNvPicPr preferRelativeResize="0"/>
          <p:nvPr/>
        </p:nvPicPr>
        <p:blipFill>
          <a:blip r:embed="rId3">
            <a:alphaModFix/>
          </a:blip>
          <a:stretch>
            <a:fillRect/>
          </a:stretch>
        </p:blipFill>
        <p:spPr>
          <a:xfrm>
            <a:off x="82575" y="582075"/>
            <a:ext cx="8978876" cy="44894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nvSpPr>
        <p:spPr>
          <a:xfrm>
            <a:off x="1323100" y="76375"/>
            <a:ext cx="5500800" cy="41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latin typeface="Raleway SemiBold"/>
                <a:ea typeface="Raleway SemiBold"/>
                <a:cs typeface="Raleway SemiBold"/>
                <a:sym typeface="Raleway SemiBold"/>
              </a:rPr>
              <a:t>               SOLUTION RECOMMENDATIONS</a:t>
            </a:r>
            <a:endParaRPr sz="1800">
              <a:solidFill>
                <a:schemeClr val="dk2"/>
              </a:solidFill>
              <a:latin typeface="Raleway SemiBold"/>
              <a:ea typeface="Raleway SemiBold"/>
              <a:cs typeface="Raleway SemiBold"/>
              <a:sym typeface="Raleway SemiBold"/>
            </a:endParaRPr>
          </a:p>
        </p:txBody>
      </p:sp>
      <p:sp>
        <p:nvSpPr>
          <p:cNvPr id="139" name="Google Shape;139;p26"/>
          <p:cNvSpPr txBox="1"/>
          <p:nvPr/>
        </p:nvSpPr>
        <p:spPr>
          <a:xfrm>
            <a:off x="198150" y="551125"/>
            <a:ext cx="8741400" cy="74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GB" sz="1100">
                <a:solidFill>
                  <a:schemeClr val="dk1"/>
                </a:solidFill>
              </a:rPr>
              <a:t>Use of Password Managers</a:t>
            </a:r>
            <a:br>
              <a:rPr b="1" lang="en-GB" sz="1100">
                <a:solidFill>
                  <a:schemeClr val="dk1"/>
                </a:solidFill>
              </a:rPr>
            </a:b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Encourage users to store and manage all their passwords securely in one place.</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Password managers can automatically generate strong, unique passwords for every account.</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Examples: LastPass, 1Password, Bitwarden.</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Implement Multi-Factor Authentication (MFA)</a:t>
            </a:r>
            <a:br>
              <a:rPr b="1" lang="en-GB" sz="1100">
                <a:solidFill>
                  <a:schemeClr val="dk1"/>
                </a:solidFill>
              </a:rPr>
            </a:b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Add an extra layer of security through verification codes, biometrics, or hardware tokens.</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Reduces the risk of unauthorized access even if a password is stolen.</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Simplify Password Policies</a:t>
            </a:r>
            <a:br>
              <a:rPr b="1" lang="en-GB" sz="1100">
                <a:solidFill>
                  <a:schemeClr val="dk1"/>
                </a:solidFill>
              </a:rPr>
            </a:b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Balance security with usability by avoiding overly complex or frequent password changes.</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Use passphrases (e.g., “BlueSky!RunsFast2025”) that are strong but easy to remember.</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Educate Users on Cybersecurity Practices</a:t>
            </a:r>
            <a:br>
              <a:rPr b="1" lang="en-GB" sz="1100">
                <a:solidFill>
                  <a:schemeClr val="dk1"/>
                </a:solidFill>
              </a:rPr>
            </a:b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Conduct regular awareness sessions or online training.</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Teach users how to create secure passwords, spot phishing attempts, and avoid unsafe storage habits.</a:t>
            </a:r>
            <a:br>
              <a:rPr lang="en-GB" sz="1100">
                <a:solidFill>
                  <a:schemeClr val="dk1"/>
                </a:solidFill>
              </a:rPr>
            </a:b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sz="1100">
                <a:solidFill>
                  <a:schemeClr val="dk1"/>
                </a:solidFill>
              </a:rPr>
              <a:t>Adopt Passwordless Authentication</a:t>
            </a:r>
            <a:br>
              <a:rPr b="1" lang="en-GB" sz="1100">
                <a:solidFill>
                  <a:schemeClr val="dk1"/>
                </a:solidFill>
              </a:rPr>
            </a:b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Introduce modern login options like fingerprint, face recognition, or single sign-on (SSO).</a:t>
            </a:r>
            <a:br>
              <a:rPr lang="en-GB"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Improves convenience and reduces password fatigue.</a:t>
            </a:r>
            <a:endParaRPr sz="110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nvSpPr>
        <p:spPr>
          <a:xfrm>
            <a:off x="1539825" y="819450"/>
            <a:ext cx="5965200" cy="8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600">
                <a:solidFill>
                  <a:schemeClr val="dk2"/>
                </a:solidFill>
                <a:latin typeface="Verdana"/>
                <a:ea typeface="Verdana"/>
                <a:cs typeface="Verdana"/>
                <a:sym typeface="Verdana"/>
              </a:rPr>
              <a:t>              </a:t>
            </a:r>
            <a:endParaRPr sz="2600">
              <a:solidFill>
                <a:schemeClr val="dk2"/>
              </a:solidFill>
              <a:latin typeface="Verdana"/>
              <a:ea typeface="Verdana"/>
              <a:cs typeface="Verdana"/>
              <a:sym typeface="Verdana"/>
            </a:endParaRPr>
          </a:p>
          <a:p>
            <a:pPr indent="0" lvl="0" marL="0" rtl="0" algn="l">
              <a:spcBef>
                <a:spcPts val="0"/>
              </a:spcBef>
              <a:spcAft>
                <a:spcPts val="0"/>
              </a:spcAft>
              <a:buNone/>
            </a:pPr>
            <a:r>
              <a:rPr lang="en-GB" sz="2600">
                <a:solidFill>
                  <a:schemeClr val="dk2"/>
                </a:solidFill>
                <a:latin typeface="Verdana"/>
                <a:ea typeface="Verdana"/>
                <a:cs typeface="Verdana"/>
                <a:sym typeface="Verdana"/>
              </a:rPr>
              <a:t>            </a:t>
            </a:r>
            <a:endParaRPr sz="2600">
              <a:solidFill>
                <a:schemeClr val="dk2"/>
              </a:solidFill>
              <a:latin typeface="Verdana"/>
              <a:ea typeface="Verdana"/>
              <a:cs typeface="Verdana"/>
              <a:sym typeface="Verdana"/>
            </a:endParaRPr>
          </a:p>
          <a:p>
            <a:pPr indent="0" lvl="0" marL="0" rtl="0" algn="l">
              <a:spcBef>
                <a:spcPts val="0"/>
              </a:spcBef>
              <a:spcAft>
                <a:spcPts val="0"/>
              </a:spcAft>
              <a:buNone/>
            </a:pPr>
            <a:r>
              <a:rPr lang="en-GB" sz="2600">
                <a:solidFill>
                  <a:schemeClr val="dk2"/>
                </a:solidFill>
                <a:latin typeface="Verdana"/>
                <a:ea typeface="Verdana"/>
                <a:cs typeface="Verdana"/>
                <a:sym typeface="Verdana"/>
              </a:rPr>
              <a:t>                </a:t>
            </a:r>
            <a:endParaRPr sz="2600">
              <a:solidFill>
                <a:schemeClr val="dk2"/>
              </a:solidFill>
              <a:latin typeface="Verdana"/>
              <a:ea typeface="Verdana"/>
              <a:cs typeface="Verdana"/>
              <a:sym typeface="Verdana"/>
            </a:endParaRPr>
          </a:p>
          <a:p>
            <a:pPr indent="0" lvl="0" marL="0" rtl="0" algn="l">
              <a:spcBef>
                <a:spcPts val="0"/>
              </a:spcBef>
              <a:spcAft>
                <a:spcPts val="0"/>
              </a:spcAft>
              <a:buNone/>
            </a:pPr>
            <a:r>
              <a:rPr lang="en-GB" sz="2600">
                <a:solidFill>
                  <a:schemeClr val="dk2"/>
                </a:solidFill>
                <a:latin typeface="Verdana"/>
                <a:ea typeface="Verdana"/>
                <a:cs typeface="Verdana"/>
                <a:sym typeface="Verdana"/>
              </a:rPr>
              <a:t>              THANK YOU</a:t>
            </a:r>
            <a:endParaRPr sz="2600">
              <a:solidFill>
                <a:schemeClr val="dk2"/>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